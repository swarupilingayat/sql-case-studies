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4" r:id="rId1"/>
  </p:sldMasterIdLst>
  <p:notesMasterIdLst>
    <p:notesMasterId r:id="rId22"/>
  </p:notesMasterIdLst>
  <p:sldIdLst>
    <p:sldId id="277" r:id="rId2"/>
    <p:sldId id="257" r:id="rId3"/>
    <p:sldId id="28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355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AB68E0-27A5-48BC-9870-9F64E210C9D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0F443-1F5B-4C92-8065-18876A5EF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049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0F443-1F5B-4C92-8065-18876A5EF7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874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0F443-1F5B-4C92-8065-18876A5EF7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62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0F443-1F5B-4C92-8065-18876A5EF7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480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0F443-1F5B-4C92-8065-18876A5EF7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723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02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297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1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644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69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026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32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30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43114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0681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614307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2658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853902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95192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406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51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893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stackpointer.io/database/reset-mysql-root-password/103/attachment/database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65314" y="-102636"/>
            <a:ext cx="12055151" cy="696063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323975"/>
            <a:ext cx="11029950" cy="42099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915352" y="1905000"/>
            <a:ext cx="1036129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Banking Application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162050" y="3810000"/>
            <a:ext cx="98679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rPr>
              <a:t>SQL-Based Data Analysis &amp; Optimization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12760" y="4855719"/>
            <a:ext cx="98679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latin typeface="Inter"/>
                <a:ea typeface="Inter"/>
                <a:cs typeface="Inter"/>
                <a:sym typeface="Inter"/>
              </a:rPr>
              <a:t>Submitted by: Swarupi Lingayat</a:t>
            </a:r>
            <a:endParaRPr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81025" y="2276475"/>
            <a:ext cx="348615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352925" y="2276475"/>
            <a:ext cx="348615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8124825" y="2276475"/>
            <a:ext cx="348615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581025"/>
            <a:ext cx="1158144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latin typeface="Orbitron"/>
                <a:ea typeface="Orbitron"/>
                <a:cs typeface="Orbitron"/>
                <a:sym typeface="Orbitron"/>
              </a:rPr>
              <a:t>PROJECT OBJECTIVES</a:t>
            </a:r>
            <a:endParaRPr dirty="0"/>
          </a:p>
        </p:txBody>
      </p:sp>
      <p:sp>
        <p:nvSpPr>
          <p:cNvPr id="98" name="Google Shape;98;p14"/>
          <p:cNvSpPr/>
          <p:nvPr/>
        </p:nvSpPr>
        <p:spPr>
          <a:xfrm>
            <a:off x="581025" y="13525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731520" y="3466517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Orbitron"/>
                <a:ea typeface="Orbitron"/>
                <a:cs typeface="Orbitron"/>
                <a:sym typeface="Orbitron"/>
              </a:rPr>
              <a:t>DATA RETRIEVAL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76300" y="3952875"/>
            <a:ext cx="28956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latin typeface="Inter"/>
                <a:ea typeface="Inter"/>
                <a:cs typeface="Inter"/>
                <a:sym typeface="Inter"/>
              </a:rPr>
              <a:t>Efficiently fetching </a:t>
            </a:r>
            <a:r>
              <a:rPr lang="en-US" sz="1500" b="1" dirty="0">
                <a:latin typeface="Inter"/>
                <a:ea typeface="Inter"/>
                <a:cs typeface="Inter"/>
                <a:sym typeface="Inter"/>
              </a:rPr>
              <a:t>Customers</a:t>
            </a:r>
            <a:r>
              <a:rPr lang="en-US" sz="1500" b="1" i="0" u="none" strike="noStrike" cap="none" dirty="0">
                <a:latin typeface="Inter"/>
                <a:ea typeface="Inter"/>
                <a:cs typeface="Inter"/>
                <a:sym typeface="Inter"/>
              </a:rPr>
              <a:t>, transactions, branches, loans and  account branches data using optimized SQL queries.</a:t>
            </a:r>
            <a:endParaRPr b="1"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4575810" y="3476625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  <a:latin typeface="Orbitron"/>
                <a:sym typeface="Orbitron"/>
              </a:rPr>
              <a:t>SQL</a:t>
            </a:r>
            <a:r>
              <a:rPr lang="en-US" sz="1800" b="1" i="0" u="none" strike="noStrike" cap="none" dirty="0">
                <a:solidFill>
                  <a:srgbClr val="22D3EE"/>
                </a:solidFill>
                <a:latin typeface="Orbitron"/>
                <a:ea typeface="Orbitron"/>
                <a:cs typeface="Orbitron"/>
                <a:sym typeface="Orbitro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Orbitron"/>
                <a:sym typeface="Orbitron"/>
              </a:rPr>
              <a:t>OPERATIONS</a:t>
            </a:r>
            <a:endParaRPr b="1" dirty="0">
              <a:solidFill>
                <a:schemeClr val="bg1"/>
              </a:solidFill>
              <a:latin typeface="Orbitron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648200" y="3952875"/>
            <a:ext cx="28956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latin typeface="Inter"/>
                <a:ea typeface="Inter"/>
                <a:cs typeface="Inter"/>
                <a:sym typeface="Inter"/>
              </a:rPr>
              <a:t>Mastering core operations including JOINs, GROUP BY, HAVING clauses, and subqueries.</a:t>
            </a:r>
            <a:endParaRPr b="1"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8347710" y="3476625"/>
            <a:ext cx="30403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  <a:latin typeface="Orbitron"/>
                <a:sym typeface="Orbitron"/>
              </a:rPr>
              <a:t>INSIGHT</a:t>
            </a:r>
            <a:r>
              <a:rPr lang="en-US" sz="1800" b="1" i="0" u="none" strike="noStrike" cap="none" dirty="0">
                <a:solidFill>
                  <a:srgbClr val="22D3EE"/>
                </a:solidFill>
                <a:latin typeface="Orbitron"/>
                <a:ea typeface="Orbitron"/>
                <a:cs typeface="Orbitron"/>
                <a:sym typeface="Orbitron"/>
              </a:rPr>
              <a:t> </a:t>
            </a:r>
            <a:r>
              <a:rPr lang="en-US" sz="1800" b="1" i="0" u="none" strike="noStrike" cap="none" dirty="0">
                <a:solidFill>
                  <a:schemeClr val="bg1"/>
                </a:solidFill>
                <a:latin typeface="Orbitron"/>
                <a:ea typeface="Orbitron"/>
                <a:cs typeface="Orbitron"/>
                <a:sym typeface="Orbitron"/>
              </a:rPr>
              <a:t>&amp;</a:t>
            </a:r>
            <a:r>
              <a:rPr lang="en-US" sz="1800" b="1" i="0" u="none" strike="noStrike" cap="none" dirty="0">
                <a:solidFill>
                  <a:srgbClr val="22D3EE"/>
                </a:solidFill>
                <a:latin typeface="Orbitron"/>
                <a:ea typeface="Orbitron"/>
                <a:cs typeface="Orbitron"/>
                <a:sym typeface="Orbitron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Orbitron"/>
                <a:sym typeface="Orbitron"/>
              </a:rPr>
              <a:t>ANALYSIS</a:t>
            </a:r>
            <a:endParaRPr b="1" dirty="0">
              <a:solidFill>
                <a:schemeClr val="bg1"/>
              </a:solidFill>
              <a:latin typeface="Orbitron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420100" y="4014787"/>
            <a:ext cx="28956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latin typeface="Inter"/>
                <a:ea typeface="Inter"/>
                <a:cs typeface="Inter"/>
                <a:sym typeface="Inter"/>
              </a:rPr>
              <a:t>Analyzing result sets to identify user performance trends and improve quiz structures.</a:t>
            </a:r>
            <a:endParaRPr b="1" dirty="0"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14550" y="270510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95962" y="270510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77B132-49CC-665A-152B-27D14B4C57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6156" y="2664831"/>
            <a:ext cx="621294" cy="6212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18920E-1D2B-A5AE-7A00-BD88B7F3E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727" y="1410996"/>
            <a:ext cx="8107524" cy="5405016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86C114-2382-C264-6D12-114385D5B982}"/>
              </a:ext>
            </a:extLst>
          </p:cNvPr>
          <p:cNvSpPr/>
          <p:nvPr/>
        </p:nvSpPr>
        <p:spPr>
          <a:xfrm>
            <a:off x="709127" y="121298"/>
            <a:ext cx="10462725" cy="10623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Arial Black" panose="020B0A04020102020204" pitchFamily="34" charset="0"/>
              </a:rPr>
              <a:t>The EER (Enhanced Entity–Relationship)  diagram provides a clear and organized view of how data flows and is linked within the system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.</a:t>
            </a:r>
            <a:endParaRPr lang="en-US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Arial Black" panose="020B0A04020102020204" pitchFamily="34" charset="0"/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6158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A725C4-D25B-AFE9-C283-A7A9F2334579}"/>
              </a:ext>
            </a:extLst>
          </p:cNvPr>
          <p:cNvSpPr txBox="1"/>
          <p:nvPr/>
        </p:nvSpPr>
        <p:spPr>
          <a:xfrm>
            <a:off x="4820439" y="58409"/>
            <a:ext cx="1608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Insert Records: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089041-003B-201C-9EC7-B5E59652C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24" y="576384"/>
            <a:ext cx="5006774" cy="239075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FF50223-9011-7B5C-4718-7C42FFF584AF}"/>
              </a:ext>
            </a:extLst>
          </p:cNvPr>
          <p:cNvSpPr/>
          <p:nvPr/>
        </p:nvSpPr>
        <p:spPr>
          <a:xfrm>
            <a:off x="2262890" y="3134959"/>
            <a:ext cx="1348057" cy="3501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Customers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7AE3A16-A739-0A32-BAD0-1A5F8DC027BC}"/>
              </a:ext>
            </a:extLst>
          </p:cNvPr>
          <p:cNvSpPr/>
          <p:nvPr/>
        </p:nvSpPr>
        <p:spPr>
          <a:xfrm>
            <a:off x="7562680" y="3134959"/>
            <a:ext cx="1348056" cy="2940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Accounts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15371AA-F19F-8A81-9D57-53A7CAC3E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690" y="3661677"/>
            <a:ext cx="4683967" cy="2314674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172DBD0-D9E1-C427-F982-B5ECE23B8424}"/>
              </a:ext>
            </a:extLst>
          </p:cNvPr>
          <p:cNvSpPr/>
          <p:nvPr/>
        </p:nvSpPr>
        <p:spPr>
          <a:xfrm>
            <a:off x="5001208" y="6391469"/>
            <a:ext cx="1735494" cy="2794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Transactions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1BC782-C72E-C86E-5F0E-31495F8C7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904" y="576384"/>
            <a:ext cx="4256202" cy="239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047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6CF3BB2-3E4D-14E0-9453-1446097647D8}"/>
              </a:ext>
            </a:extLst>
          </p:cNvPr>
          <p:cNvSpPr txBox="1"/>
          <p:nvPr/>
        </p:nvSpPr>
        <p:spPr>
          <a:xfrm>
            <a:off x="731520" y="4290646"/>
            <a:ext cx="10424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records show a fully functional banking system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a simple banking application, covering customers, accounts, transactions, branches, account-branch assignments, and loans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5D9F9F-C0F4-81C4-F11F-E30529B96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77" y="482158"/>
            <a:ext cx="3919374" cy="22288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76D160-AA84-2DCE-1D76-487B250E3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035" y="482157"/>
            <a:ext cx="2187130" cy="22288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242019-7D92-71DE-3DAC-5E1567B2A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9739" y="482158"/>
            <a:ext cx="4130398" cy="2228848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9B5E08C-F843-6175-B231-BBDEAF35F011}"/>
              </a:ext>
            </a:extLst>
          </p:cNvPr>
          <p:cNvSpPr/>
          <p:nvPr/>
        </p:nvSpPr>
        <p:spPr>
          <a:xfrm>
            <a:off x="1763486" y="3013788"/>
            <a:ext cx="1474236" cy="3172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Branches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FB01CE8-7D3A-4F56-008C-B29D73711772}"/>
              </a:ext>
            </a:extLst>
          </p:cNvPr>
          <p:cNvSpPr/>
          <p:nvPr/>
        </p:nvSpPr>
        <p:spPr>
          <a:xfrm>
            <a:off x="5206482" y="2920482"/>
            <a:ext cx="1474236" cy="5085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Account Branches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2628294-B21D-7FAF-BEED-254995DF3ECC}"/>
              </a:ext>
            </a:extLst>
          </p:cNvPr>
          <p:cNvSpPr/>
          <p:nvPr/>
        </p:nvSpPr>
        <p:spPr>
          <a:xfrm>
            <a:off x="8929396" y="3013788"/>
            <a:ext cx="1380931" cy="3172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Loans</a:t>
            </a:r>
          </a:p>
        </p:txBody>
      </p:sp>
    </p:spTree>
    <p:extLst>
      <p:ext uri="{BB962C8B-B14F-4D97-AF65-F5344CB8AC3E}">
        <p14:creationId xmlns:p14="http://schemas.microsoft.com/office/powerpoint/2010/main" val="3656269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C13B92-FCB0-8D88-2ECD-C9E4A555031A}"/>
              </a:ext>
            </a:extLst>
          </p:cNvPr>
          <p:cNvSpPr txBox="1"/>
          <p:nvPr/>
        </p:nvSpPr>
        <p:spPr>
          <a:xfrm>
            <a:off x="130629" y="0"/>
            <a:ext cx="1076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#3)</a:t>
            </a:r>
            <a:r>
              <a:rPr lang="en-IN" sz="2000" dirty="0"/>
              <a:t>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query to select all transactions from the Transactions table where the Amount is greater than $500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1007DF-5335-86A4-ADC1-BB0014DCB9CF}"/>
              </a:ext>
            </a:extLst>
          </p:cNvPr>
          <p:cNvSpPr/>
          <p:nvPr/>
        </p:nvSpPr>
        <p:spPr>
          <a:xfrm>
            <a:off x="276999" y="909246"/>
            <a:ext cx="1306285" cy="420914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124E98-024B-87B8-9D48-FC7A53873DB7}"/>
              </a:ext>
            </a:extLst>
          </p:cNvPr>
          <p:cNvSpPr txBox="1"/>
          <p:nvPr/>
        </p:nvSpPr>
        <p:spPr>
          <a:xfrm>
            <a:off x="1631853" y="856343"/>
            <a:ext cx="55012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Transactions where Amount &gt; 500;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26698A-8573-DAFF-84B4-061584216F39}"/>
              </a:ext>
            </a:extLst>
          </p:cNvPr>
          <p:cNvSpPr/>
          <p:nvPr/>
        </p:nvSpPr>
        <p:spPr>
          <a:xfrm>
            <a:off x="325568" y="1818492"/>
            <a:ext cx="1306285" cy="420914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OUTPUT-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4FCA08E-9509-2D66-03A9-45C01296E41C}"/>
              </a:ext>
            </a:extLst>
          </p:cNvPr>
          <p:cNvSpPr/>
          <p:nvPr/>
        </p:nvSpPr>
        <p:spPr>
          <a:xfrm>
            <a:off x="276999" y="4783015"/>
            <a:ext cx="1505148" cy="393896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ANALYSIS-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7E6939-86F8-1864-4E6D-30490142D340}"/>
              </a:ext>
            </a:extLst>
          </p:cNvPr>
          <p:cNvSpPr txBox="1"/>
          <p:nvPr/>
        </p:nvSpPr>
        <p:spPr>
          <a:xfrm>
            <a:off x="2264898" y="51769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4D78E4-D597-38BC-3FFA-1EC5EF71DE38}"/>
              </a:ext>
            </a:extLst>
          </p:cNvPr>
          <p:cNvSpPr txBox="1"/>
          <p:nvPr/>
        </p:nvSpPr>
        <p:spPr>
          <a:xfrm>
            <a:off x="2011678" y="4715246"/>
            <a:ext cx="9211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retrieves all rows from the Transactions table where the Amount column has a value greater than 500.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1203D4-4A59-F7FF-EA58-A692228DB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367" y="1839296"/>
            <a:ext cx="3962743" cy="240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172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1BE43A-A01C-59BC-FC49-E3E54D790810}"/>
              </a:ext>
            </a:extLst>
          </p:cNvPr>
          <p:cNvSpPr txBox="1"/>
          <p:nvPr/>
        </p:nvSpPr>
        <p:spPr>
          <a:xfrm>
            <a:off x="0" y="123260"/>
            <a:ext cx="114517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#4)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query to select all Accounts where the Balance is between $1000 and $5000 and the Account Type is 'Checking'.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470047-62B9-AD94-2168-94F0390DA9A1}"/>
              </a:ext>
            </a:extLst>
          </p:cNvPr>
          <p:cNvSpPr/>
          <p:nvPr/>
        </p:nvSpPr>
        <p:spPr>
          <a:xfrm>
            <a:off x="200463" y="999365"/>
            <a:ext cx="1318847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0F0B4A-98F3-7F7F-BB9A-D70EF4DCBF11}"/>
              </a:ext>
            </a:extLst>
          </p:cNvPr>
          <p:cNvSpPr txBox="1"/>
          <p:nvPr/>
        </p:nvSpPr>
        <p:spPr>
          <a:xfrm>
            <a:off x="1786597" y="999365"/>
            <a:ext cx="9440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accounts where balance between 1000 and 50000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Account_Type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='Checking';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40E362-8D35-BCDA-B196-7AEABF7C1AD7}"/>
              </a:ext>
            </a:extLst>
          </p:cNvPr>
          <p:cNvSpPr txBox="1"/>
          <p:nvPr/>
        </p:nvSpPr>
        <p:spPr>
          <a:xfrm>
            <a:off x="207497" y="2009894"/>
            <a:ext cx="1311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A323BF-A1AC-85E0-A56D-BC3776BC9E51}"/>
              </a:ext>
            </a:extLst>
          </p:cNvPr>
          <p:cNvSpPr/>
          <p:nvPr/>
        </p:nvSpPr>
        <p:spPr>
          <a:xfrm>
            <a:off x="207497" y="2175244"/>
            <a:ext cx="1311813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OUTPUT-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CEF2C96-0903-5C6F-6778-306BB6BEE712}"/>
              </a:ext>
            </a:extLst>
          </p:cNvPr>
          <p:cNvSpPr/>
          <p:nvPr/>
        </p:nvSpPr>
        <p:spPr>
          <a:xfrm>
            <a:off x="207498" y="3868615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ANALYSIS-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CDD2D7-83F5-3428-B97A-4D09AB6A52B7}"/>
              </a:ext>
            </a:extLst>
          </p:cNvPr>
          <p:cNvSpPr txBox="1"/>
          <p:nvPr/>
        </p:nvSpPr>
        <p:spPr>
          <a:xfrm>
            <a:off x="1899139" y="3735233"/>
            <a:ext cx="9552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retrieves all accounts of type Checking where the balance is within the range of 1,000 to 50,000. here only one account type is checking so displaying one record.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661418-3491-2115-2BAD-3BE8EB5F5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849" y="2175244"/>
            <a:ext cx="3064829" cy="64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808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D968CA-09EA-EF13-B91B-7F0FE4D83E93}"/>
              </a:ext>
            </a:extLst>
          </p:cNvPr>
          <p:cNvSpPr txBox="1"/>
          <p:nvPr/>
        </p:nvSpPr>
        <p:spPr>
          <a:xfrm>
            <a:off x="135924" y="252663"/>
            <a:ext cx="1179940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#5)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query to select all Customers whose LastName starts with 'J'.</a:t>
            </a:r>
          </a:p>
          <a:p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9880384-5D0C-73E8-E38B-3A3F21FC0498}"/>
              </a:ext>
            </a:extLst>
          </p:cNvPr>
          <p:cNvSpPr/>
          <p:nvPr/>
        </p:nvSpPr>
        <p:spPr>
          <a:xfrm>
            <a:off x="135924" y="1071554"/>
            <a:ext cx="1318847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QUERY-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C6AF6B-3010-054C-3F9B-CB3CE43F4C28}"/>
              </a:ext>
            </a:extLst>
          </p:cNvPr>
          <p:cNvSpPr/>
          <p:nvPr/>
        </p:nvSpPr>
        <p:spPr>
          <a:xfrm>
            <a:off x="135924" y="4795047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ANALYSIS-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357EAD-6CA7-2090-0643-E47617AD13E9}"/>
              </a:ext>
            </a:extLst>
          </p:cNvPr>
          <p:cNvSpPr/>
          <p:nvPr/>
        </p:nvSpPr>
        <p:spPr>
          <a:xfrm>
            <a:off x="135924" y="2425794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OUTPUT-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C12595-4800-27B4-1B30-1DCF4FDB4814}"/>
              </a:ext>
            </a:extLst>
          </p:cNvPr>
          <p:cNvSpPr txBox="1"/>
          <p:nvPr/>
        </p:nvSpPr>
        <p:spPr>
          <a:xfrm>
            <a:off x="1708484" y="1086309"/>
            <a:ext cx="5115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customer where LastName like 'j%';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EC89F3-DE3E-033C-C741-EDA14A18CA06}"/>
              </a:ext>
            </a:extLst>
          </p:cNvPr>
          <p:cNvSpPr txBox="1"/>
          <p:nvPr/>
        </p:nvSpPr>
        <p:spPr>
          <a:xfrm>
            <a:off x="1840831" y="4741345"/>
            <a:ext cx="9504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retrieves all rows from the Customers table where the LastName begins with the letter “J”. Here only one LastName start with ‘J’ so displaying only one record.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61A996-0049-32CA-93C7-C8264DE1A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227" y="2504237"/>
            <a:ext cx="5725936" cy="74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723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32EBFF-D49B-33E9-A0BF-916BD35DACC9}"/>
              </a:ext>
            </a:extLst>
          </p:cNvPr>
          <p:cNvSpPr txBox="1"/>
          <p:nvPr/>
        </p:nvSpPr>
        <p:spPr>
          <a:xfrm>
            <a:off x="240633" y="60154"/>
            <a:ext cx="11423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#6)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query to select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AccountID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new column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AccountStatus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Accounts table. If Balance is greater than $1000, set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AccountStatus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'Active', otherwise 'Inactive'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F24EC14-72E0-D47F-B5B3-C4E5FBA4F03F}"/>
              </a:ext>
            </a:extLst>
          </p:cNvPr>
          <p:cNvSpPr/>
          <p:nvPr/>
        </p:nvSpPr>
        <p:spPr>
          <a:xfrm>
            <a:off x="135924" y="1071554"/>
            <a:ext cx="1318847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QUERY-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946F96-748B-FC6C-3BCB-06A03BC9EF88}"/>
              </a:ext>
            </a:extLst>
          </p:cNvPr>
          <p:cNvSpPr/>
          <p:nvPr/>
        </p:nvSpPr>
        <p:spPr>
          <a:xfrm>
            <a:off x="135924" y="2729318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OUTPUT-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46E5E0-5D1B-DA9E-01A1-BD906F35C61C}"/>
              </a:ext>
            </a:extLst>
          </p:cNvPr>
          <p:cNvSpPr/>
          <p:nvPr/>
        </p:nvSpPr>
        <p:spPr>
          <a:xfrm>
            <a:off x="135924" y="4956132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690146-BA09-2571-0432-0FD02C3453FB}"/>
              </a:ext>
            </a:extLst>
          </p:cNvPr>
          <p:cNvSpPr txBox="1"/>
          <p:nvPr/>
        </p:nvSpPr>
        <p:spPr>
          <a:xfrm>
            <a:off x="1888956" y="948382"/>
            <a:ext cx="42070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AccountsID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balance &gt; 1000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'Active’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'Inactive’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as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AccountStatus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accounts;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55938E-E9A5-9A1B-03A6-5FC94E5A813C}"/>
              </a:ext>
            </a:extLst>
          </p:cNvPr>
          <p:cNvSpPr txBox="1"/>
          <p:nvPr/>
        </p:nvSpPr>
        <p:spPr>
          <a:xfrm>
            <a:off x="1888956" y="4902430"/>
            <a:ext cx="98499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classifies each account into two categories based on its balance: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→ Balance greater than 1000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Inactive → Balance less than or equal to 1000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column as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AccountStatus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store active and inactive account status based on balance.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3AED3D-1DDA-1A3D-62C4-619BC6596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042" y="3037886"/>
            <a:ext cx="2284047" cy="179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716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21B4CE-4883-E8E0-AF87-A1853700D836}"/>
              </a:ext>
            </a:extLst>
          </p:cNvPr>
          <p:cNvSpPr txBox="1"/>
          <p:nvPr/>
        </p:nvSpPr>
        <p:spPr>
          <a:xfrm>
            <a:off x="102267" y="104091"/>
            <a:ext cx="119172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#7)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query to find all Customers who have a balance in their accounts greater than the average balance of all accounts. Use a subquery to find these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CustomerIDs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FACB5F-362F-8DE6-0E38-4BC98C331EFA}"/>
              </a:ext>
            </a:extLst>
          </p:cNvPr>
          <p:cNvSpPr/>
          <p:nvPr/>
        </p:nvSpPr>
        <p:spPr>
          <a:xfrm>
            <a:off x="135924" y="1071554"/>
            <a:ext cx="1318847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QUERY-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0488CB-ADD8-B718-33E6-A3A7195814FC}"/>
              </a:ext>
            </a:extLst>
          </p:cNvPr>
          <p:cNvSpPr/>
          <p:nvPr/>
        </p:nvSpPr>
        <p:spPr>
          <a:xfrm>
            <a:off x="102267" y="2082987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OUTPUT-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D0EA233-9E5A-F9A4-46FD-C69E061B1A23}"/>
              </a:ext>
            </a:extLst>
          </p:cNvPr>
          <p:cNvSpPr/>
          <p:nvPr/>
        </p:nvSpPr>
        <p:spPr>
          <a:xfrm>
            <a:off x="135924" y="4053764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A07934-4FF0-55E2-BAAC-EEC7674396E7}"/>
              </a:ext>
            </a:extLst>
          </p:cNvPr>
          <p:cNvSpPr txBox="1"/>
          <p:nvPr/>
        </p:nvSpPr>
        <p:spPr>
          <a:xfrm>
            <a:off x="1726529" y="1039512"/>
            <a:ext cx="85123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cust_id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balance from accounts where balance &gt;(select avg(balance)from accounts);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E3AA8A-C436-122A-0B67-4ABC19D21560}"/>
              </a:ext>
            </a:extLst>
          </p:cNvPr>
          <p:cNvSpPr txBox="1"/>
          <p:nvPr/>
        </p:nvSpPr>
        <p:spPr>
          <a:xfrm>
            <a:off x="1726529" y="4053764"/>
            <a:ext cx="1012457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identify all customers whose account balance is greater than the average balance across all accounts.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get here two columns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cust_id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balance.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subquery &gt;(select avg(balance)from accounts) calculates the average balance of all accounts.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outer query compares each account’s balance against that average.</a:t>
            </a:r>
          </a:p>
          <a:p>
            <a:pPr algn="just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7F73F3-AE82-6C6D-3D8E-8D691934F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263" y="2078510"/>
            <a:ext cx="1697982" cy="126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38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B3718C-4D05-F9A8-E1A7-6235CA3F48A5}"/>
              </a:ext>
            </a:extLst>
          </p:cNvPr>
          <p:cNvSpPr txBox="1"/>
          <p:nvPr/>
        </p:nvSpPr>
        <p:spPr>
          <a:xfrm>
            <a:off x="108283" y="0"/>
            <a:ext cx="10250905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#8)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query to get the total Balance for each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AccountType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Group the results by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AccountType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D654B14-1075-9FC2-3E41-CAF04A54D848}"/>
              </a:ext>
            </a:extLst>
          </p:cNvPr>
          <p:cNvSpPr/>
          <p:nvPr/>
        </p:nvSpPr>
        <p:spPr>
          <a:xfrm>
            <a:off x="135924" y="1071554"/>
            <a:ext cx="1318847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QUERY-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8B8F9B-3878-0074-2133-AB297C11F4E9}"/>
              </a:ext>
            </a:extLst>
          </p:cNvPr>
          <p:cNvSpPr/>
          <p:nvPr/>
        </p:nvSpPr>
        <p:spPr>
          <a:xfrm>
            <a:off x="102267" y="2082987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OUTPUT-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205BEE-A19B-8AE8-8971-3CD6345AF2DA}"/>
              </a:ext>
            </a:extLst>
          </p:cNvPr>
          <p:cNvSpPr/>
          <p:nvPr/>
        </p:nvSpPr>
        <p:spPr>
          <a:xfrm>
            <a:off x="135924" y="4257745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6048C6-20B1-AB78-DFCF-0115D172056E}"/>
              </a:ext>
            </a:extLst>
          </p:cNvPr>
          <p:cNvSpPr txBox="1"/>
          <p:nvPr/>
        </p:nvSpPr>
        <p:spPr>
          <a:xfrm>
            <a:off x="1726529" y="952369"/>
            <a:ext cx="79709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Account_Type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sum(balance) as 'Total Balance’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accounts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Account_Type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10742E-0FEA-C62B-24DD-DD3647704BCB}"/>
              </a:ext>
            </a:extLst>
          </p:cNvPr>
          <p:cNvSpPr txBox="1"/>
          <p:nvPr/>
        </p:nvSpPr>
        <p:spPr>
          <a:xfrm>
            <a:off x="1847826" y="4217453"/>
            <a:ext cx="9823787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calculates the total balance for each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Account_Type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adds up all balances for each account type and grouped by account type, so we get one column per account type</a:t>
            </a: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985CF8-2C50-AE86-FBD0-71E2ACD8C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282" y="2082987"/>
            <a:ext cx="1868518" cy="211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424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F7454A-D9D4-ECD8-90FD-9320ADBF5E13}"/>
              </a:ext>
            </a:extLst>
          </p:cNvPr>
          <p:cNvSpPr txBox="1"/>
          <p:nvPr/>
        </p:nvSpPr>
        <p:spPr>
          <a:xfrm>
            <a:off x="90235" y="0"/>
            <a:ext cx="11592427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#9)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query to get the total number of accounts for each Customer, but only include customers who have more than 2 accounts. Use the HAVING clause.</a:t>
            </a:r>
          </a:p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E51B69-F574-694E-B73B-1CCC47F24C6E}"/>
              </a:ext>
            </a:extLst>
          </p:cNvPr>
          <p:cNvSpPr/>
          <p:nvPr/>
        </p:nvSpPr>
        <p:spPr>
          <a:xfrm>
            <a:off x="176122" y="752714"/>
            <a:ext cx="1318847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QUERY-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954761-3E78-C928-2FD0-893ABCC3BC4D}"/>
              </a:ext>
            </a:extLst>
          </p:cNvPr>
          <p:cNvSpPr/>
          <p:nvPr/>
        </p:nvSpPr>
        <p:spPr>
          <a:xfrm>
            <a:off x="176122" y="3564036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OUTPUT-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6B8999-0436-302F-F2B3-0F981C64016C}"/>
              </a:ext>
            </a:extLst>
          </p:cNvPr>
          <p:cNvSpPr/>
          <p:nvPr/>
        </p:nvSpPr>
        <p:spPr>
          <a:xfrm>
            <a:off x="176122" y="4483315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ANALYSIS-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8795E6-0C95-3AA2-FA8D-DC91D6EA4E33}"/>
              </a:ext>
            </a:extLst>
          </p:cNvPr>
          <p:cNvSpPr txBox="1"/>
          <p:nvPr/>
        </p:nvSpPr>
        <p:spPr>
          <a:xfrm>
            <a:off x="1692442" y="4392944"/>
            <a:ext cx="100704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will return a list of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cust_id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 along with the number of accounts they hold, but only for customers with 3 or more accounts. Here No customer is available who have more than 2 accounts.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24C996-FCFE-AA70-0FA9-6A160B16E91E}"/>
              </a:ext>
            </a:extLst>
          </p:cNvPr>
          <p:cNvSpPr txBox="1"/>
          <p:nvPr/>
        </p:nvSpPr>
        <p:spPr>
          <a:xfrm>
            <a:off x="1959137" y="1260691"/>
            <a:ext cx="61022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cust_id,count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AccountsID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accounts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cust_id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count(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AccountsID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)&gt;2;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CB074C-EA65-C8A2-1D1B-6E78A6594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16" y="3568104"/>
            <a:ext cx="1760373" cy="40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157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661E5C-3D0A-544A-AEDB-2880AAA08B27}"/>
              </a:ext>
            </a:extLst>
          </p:cNvPr>
          <p:cNvSpPr txBox="1"/>
          <p:nvPr/>
        </p:nvSpPr>
        <p:spPr>
          <a:xfrm>
            <a:off x="90236" y="92061"/>
            <a:ext cx="85965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#10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query to select the top 5 customers with the highest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LoanAmount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BB21C5-51D3-1C85-E850-55D1F6ED430E}"/>
              </a:ext>
            </a:extLst>
          </p:cNvPr>
          <p:cNvSpPr/>
          <p:nvPr/>
        </p:nvSpPr>
        <p:spPr>
          <a:xfrm>
            <a:off x="176122" y="752714"/>
            <a:ext cx="1318847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QUERY-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5A8F4C7-BE7A-72AD-5C86-D7218DDFB6C7}"/>
              </a:ext>
            </a:extLst>
          </p:cNvPr>
          <p:cNvSpPr/>
          <p:nvPr/>
        </p:nvSpPr>
        <p:spPr>
          <a:xfrm>
            <a:off x="176122" y="2064390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OUTPUT-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E5F5F2-A058-0D55-AA2C-1DB12714F019}"/>
              </a:ext>
            </a:extLst>
          </p:cNvPr>
          <p:cNvSpPr/>
          <p:nvPr/>
        </p:nvSpPr>
        <p:spPr>
          <a:xfrm>
            <a:off x="176122" y="3977685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3EA8E6-2A98-D32B-2B37-43E710942261}"/>
              </a:ext>
            </a:extLst>
          </p:cNvPr>
          <p:cNvSpPr txBox="1"/>
          <p:nvPr/>
        </p:nvSpPr>
        <p:spPr>
          <a:xfrm>
            <a:off x="1786688" y="633529"/>
            <a:ext cx="62624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Loan_Amount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loans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5;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AC6416-86A3-8C2B-721C-6D334E412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282" y="2064391"/>
            <a:ext cx="1346987" cy="15652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0C11EE-D819-1E56-53D9-549F747AA18F}"/>
              </a:ext>
            </a:extLst>
          </p:cNvPr>
          <p:cNvSpPr txBox="1"/>
          <p:nvPr/>
        </p:nvSpPr>
        <p:spPr>
          <a:xfrm>
            <a:off x="2230016" y="4016316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returns only the first 5 rows.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947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C2E594-2F52-ABB1-8915-39778723328E}"/>
              </a:ext>
            </a:extLst>
          </p:cNvPr>
          <p:cNvSpPr txBox="1"/>
          <p:nvPr/>
        </p:nvSpPr>
        <p:spPr>
          <a:xfrm>
            <a:off x="126331" y="0"/>
            <a:ext cx="115563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#11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query to join Transactions with Accounts to get a list of all transactions with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AccountID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TransactionDate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Amount.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1EA9DA-471B-84B4-3514-6DE483E49FC5}"/>
              </a:ext>
            </a:extLst>
          </p:cNvPr>
          <p:cNvSpPr txBox="1"/>
          <p:nvPr/>
        </p:nvSpPr>
        <p:spPr>
          <a:xfrm>
            <a:off x="1728024" y="864061"/>
            <a:ext cx="85498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t.Acc_id</a:t>
            </a:r>
            <a:r>
              <a:rPr lang="en-US" dirty="0"/>
              <a:t>,</a:t>
            </a:r>
          </a:p>
          <a:p>
            <a:r>
              <a:rPr lang="en-US" dirty="0" err="1"/>
              <a:t>t.Transaction_Date</a:t>
            </a:r>
            <a:r>
              <a:rPr lang="en-US" dirty="0"/>
              <a:t>,</a:t>
            </a:r>
          </a:p>
          <a:p>
            <a:r>
              <a:rPr lang="en-US" dirty="0" err="1"/>
              <a:t>t.Amount</a:t>
            </a:r>
            <a:r>
              <a:rPr lang="en-US" dirty="0"/>
              <a:t>,</a:t>
            </a:r>
          </a:p>
          <a:p>
            <a:r>
              <a:rPr lang="en-US" dirty="0" err="1"/>
              <a:t>ac.AccountsID</a:t>
            </a:r>
            <a:endParaRPr lang="en-US" dirty="0"/>
          </a:p>
          <a:p>
            <a:r>
              <a:rPr lang="en-US" dirty="0"/>
              <a:t>from transactions t join accounts ac</a:t>
            </a:r>
          </a:p>
          <a:p>
            <a:r>
              <a:rPr lang="en-US" dirty="0"/>
              <a:t>on </a:t>
            </a:r>
            <a:r>
              <a:rPr lang="en-US" dirty="0" err="1"/>
              <a:t>t.Acc_id</a:t>
            </a:r>
            <a:r>
              <a:rPr lang="en-US" dirty="0"/>
              <a:t>=</a:t>
            </a:r>
            <a:r>
              <a:rPr lang="en-US" dirty="0" err="1"/>
              <a:t>ac.AccountsID</a:t>
            </a:r>
            <a:r>
              <a:rPr lang="en-US" dirty="0"/>
              <a:t>;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13470C-9A9E-EEB0-61D6-B53D50F389A0}"/>
              </a:ext>
            </a:extLst>
          </p:cNvPr>
          <p:cNvSpPr/>
          <p:nvPr/>
        </p:nvSpPr>
        <p:spPr>
          <a:xfrm>
            <a:off x="249977" y="947397"/>
            <a:ext cx="1318847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QUERY-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463928-6611-B913-5508-62538932EB1E}"/>
              </a:ext>
            </a:extLst>
          </p:cNvPr>
          <p:cNvSpPr/>
          <p:nvPr/>
        </p:nvSpPr>
        <p:spPr>
          <a:xfrm>
            <a:off x="194483" y="2112932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OUTPUT-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48B02F-A3DF-00B6-875E-46E970D46F40}"/>
              </a:ext>
            </a:extLst>
          </p:cNvPr>
          <p:cNvSpPr/>
          <p:nvPr/>
        </p:nvSpPr>
        <p:spPr>
          <a:xfrm>
            <a:off x="261466" y="4780130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302F0-FF96-69FD-5687-1D71D7CC9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453" y="2748805"/>
            <a:ext cx="2895851" cy="20313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CE29F2-0EBE-A231-5095-0E9EA8DB9972}"/>
              </a:ext>
            </a:extLst>
          </p:cNvPr>
          <p:cNvSpPr txBox="1"/>
          <p:nvPr/>
        </p:nvSpPr>
        <p:spPr>
          <a:xfrm>
            <a:off x="2048194" y="4910548"/>
            <a:ext cx="61022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we start with transaction table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aliasing it t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each transaction to its corresponding account using the account ID.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the account id transaction date and amount from accounts table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Acc_id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transaction table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AccountsID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accounts table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508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31B92B-7A71-AC3D-D3C1-7F3ECB6D3E5F}"/>
              </a:ext>
            </a:extLst>
          </p:cNvPr>
          <p:cNvSpPr txBox="1"/>
          <p:nvPr/>
        </p:nvSpPr>
        <p:spPr>
          <a:xfrm>
            <a:off x="14068" y="0"/>
            <a:ext cx="1170432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#12)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query to get a list of all Accounts and any associated Transactions. Include accounts that might not have any transactions.</a:t>
            </a:r>
          </a:p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B03035C-D697-8281-567A-658B029CC996}"/>
              </a:ext>
            </a:extLst>
          </p:cNvPr>
          <p:cNvSpPr/>
          <p:nvPr/>
        </p:nvSpPr>
        <p:spPr>
          <a:xfrm>
            <a:off x="249977" y="947397"/>
            <a:ext cx="1318847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QUERY-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951DBB4-37F5-7912-5BB8-AFA7C41C695F}"/>
              </a:ext>
            </a:extLst>
          </p:cNvPr>
          <p:cNvSpPr/>
          <p:nvPr/>
        </p:nvSpPr>
        <p:spPr>
          <a:xfrm>
            <a:off x="194483" y="2112932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OUTPUT-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141D30-AA22-5C96-D1D9-FDA1AA0972EB}"/>
              </a:ext>
            </a:extLst>
          </p:cNvPr>
          <p:cNvSpPr/>
          <p:nvPr/>
        </p:nvSpPr>
        <p:spPr>
          <a:xfrm>
            <a:off x="400927" y="4847408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EBAF4A-6D23-DD2F-39DE-5A085146F8FD}"/>
              </a:ext>
            </a:extLst>
          </p:cNvPr>
          <p:cNvSpPr txBox="1"/>
          <p:nvPr/>
        </p:nvSpPr>
        <p:spPr>
          <a:xfrm>
            <a:off x="1867485" y="809326"/>
            <a:ext cx="76000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a.AccountsID,t.Transaction_Date,t.Amount</a:t>
            </a:r>
            <a:endParaRPr lang="en-US" dirty="0"/>
          </a:p>
          <a:p>
            <a:r>
              <a:rPr lang="en-US" dirty="0"/>
              <a:t>from Accounts a</a:t>
            </a:r>
          </a:p>
          <a:p>
            <a:r>
              <a:rPr lang="en-US" dirty="0"/>
              <a:t>left join transactions t</a:t>
            </a:r>
          </a:p>
          <a:p>
            <a:r>
              <a:rPr lang="en-US" dirty="0"/>
              <a:t>on </a:t>
            </a:r>
            <a:r>
              <a:rPr lang="en-US" dirty="0" err="1"/>
              <a:t>a.AccountsID</a:t>
            </a:r>
            <a:r>
              <a:rPr lang="en-US" dirty="0"/>
              <a:t> = </a:t>
            </a:r>
            <a:r>
              <a:rPr lang="en-US" dirty="0" err="1"/>
              <a:t>t.Acc_id</a:t>
            </a:r>
            <a:r>
              <a:rPr lang="en-US" dirty="0"/>
              <a:t>;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2356E-B38E-700A-5255-03C73FDB1566}"/>
              </a:ext>
            </a:extLst>
          </p:cNvPr>
          <p:cNvSpPr txBox="1"/>
          <p:nvPr/>
        </p:nvSpPr>
        <p:spPr>
          <a:xfrm>
            <a:off x="1921996" y="4848345"/>
            <a:ext cx="97963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uses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JOIN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Accounts and Transactions, which ensures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accounts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listed, even if they don’t have any transactions.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Bring in transaction details for each account. If an account has no transactions, the transaction columns will show as NULL.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FEF219-10E6-5FB0-B428-F44FC2990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641" y="2286654"/>
            <a:ext cx="3385395" cy="199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42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4B7C0C-CE64-8985-2DA2-26E89EBBECFD}"/>
              </a:ext>
            </a:extLst>
          </p:cNvPr>
          <p:cNvSpPr txBox="1"/>
          <p:nvPr/>
        </p:nvSpPr>
        <p:spPr>
          <a:xfrm>
            <a:off x="112540" y="0"/>
            <a:ext cx="115777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#13)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query to get the total number of accounts for each branch. Use an INNER JOIN between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AccountBranches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Branches, and group by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BranchID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27E8ED-342C-729D-58B6-0472F88DC4B6}"/>
              </a:ext>
            </a:extLst>
          </p:cNvPr>
          <p:cNvSpPr/>
          <p:nvPr/>
        </p:nvSpPr>
        <p:spPr>
          <a:xfrm>
            <a:off x="249977" y="947397"/>
            <a:ext cx="1318847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QUERY-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EEA47D-9EA6-03FE-72CE-E3921FD9EE23}"/>
              </a:ext>
            </a:extLst>
          </p:cNvPr>
          <p:cNvSpPr/>
          <p:nvPr/>
        </p:nvSpPr>
        <p:spPr>
          <a:xfrm>
            <a:off x="249977" y="2538314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OUTPUT-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B4462B-E15E-CCD8-5B39-442C5871BC4D}"/>
              </a:ext>
            </a:extLst>
          </p:cNvPr>
          <p:cNvSpPr/>
          <p:nvPr/>
        </p:nvSpPr>
        <p:spPr>
          <a:xfrm>
            <a:off x="400927" y="4847408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D2922D-5747-567D-C9F4-BEEF6C4DE85C}"/>
              </a:ext>
            </a:extLst>
          </p:cNvPr>
          <p:cNvSpPr txBox="1"/>
          <p:nvPr/>
        </p:nvSpPr>
        <p:spPr>
          <a:xfrm>
            <a:off x="1983543" y="912603"/>
            <a:ext cx="74418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b.BRN_ID,count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ab.ACC_ID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'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TotalAccounts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ac_branches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join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ac_branches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ab.BRN_ID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b.BRN_ID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b.BRN_ID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16A365-8F9D-56A1-EEF9-E1C90584B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743" y="2538314"/>
            <a:ext cx="1318374" cy="186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35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071331-93A5-2D10-78F2-46C1546DF5C8}"/>
              </a:ext>
            </a:extLst>
          </p:cNvPr>
          <p:cNvSpPr txBox="1"/>
          <p:nvPr/>
        </p:nvSpPr>
        <p:spPr>
          <a:xfrm>
            <a:off x="98474" y="124823"/>
            <a:ext cx="11605846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#14)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query to find all Branches that manage accounts with a total balance of more than $100,000. Use a subquery in the WHERE clause to find these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BranchIDs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9625EE-891D-2966-FA63-0A81BC705628}"/>
              </a:ext>
            </a:extLst>
          </p:cNvPr>
          <p:cNvSpPr/>
          <p:nvPr/>
        </p:nvSpPr>
        <p:spPr>
          <a:xfrm>
            <a:off x="249977" y="947397"/>
            <a:ext cx="1318847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QUERY-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0387F7-A7F5-E04A-FE0A-CD9EFB114D14}"/>
              </a:ext>
            </a:extLst>
          </p:cNvPr>
          <p:cNvSpPr/>
          <p:nvPr/>
        </p:nvSpPr>
        <p:spPr>
          <a:xfrm>
            <a:off x="194483" y="2112932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OUTPUT-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FCDEE-41C5-4EE1-824A-C5C33E1CA657}"/>
              </a:ext>
            </a:extLst>
          </p:cNvPr>
          <p:cNvSpPr/>
          <p:nvPr/>
        </p:nvSpPr>
        <p:spPr>
          <a:xfrm>
            <a:off x="400925" y="4636393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D6BF6A-6642-0707-2127-A8F282FAD3A0}"/>
              </a:ext>
            </a:extLst>
          </p:cNvPr>
          <p:cNvSpPr txBox="1"/>
          <p:nvPr/>
        </p:nvSpPr>
        <p:spPr>
          <a:xfrm>
            <a:off x="1983544" y="935734"/>
            <a:ext cx="77829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BRN_ID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ac_branches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BRN_ID in(select BRN_ID from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ac_branches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  join accounts a                on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ab.ACC_ID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a.AccountsID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 by BRN_ID  having sum(balance)&gt;100000);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BC8B57-71B0-2957-7948-737F62C9542B}"/>
              </a:ext>
            </a:extLst>
          </p:cNvPr>
          <p:cNvSpPr txBox="1"/>
          <p:nvPr/>
        </p:nvSpPr>
        <p:spPr>
          <a:xfrm>
            <a:off x="1983544" y="4319152"/>
            <a:ext cx="86094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branch IDs (BRN_ID) from the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ac_branches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ac_branches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accounts to link accounts to their branches.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Groups by branch ID so totals can be calculated per branch.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HAVING SUM(balance) &gt; 100000 to filter only those branches whose accounts collectively exceed $100,000 in balance.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7C9009-9235-C2A7-316B-94C035B8C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608" y="2727899"/>
            <a:ext cx="999412" cy="115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862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AB1485-BBB4-8FA6-2D0B-7E122FA5766C}"/>
              </a:ext>
            </a:extLst>
          </p:cNvPr>
          <p:cNvSpPr txBox="1"/>
          <p:nvPr/>
        </p:nvSpPr>
        <p:spPr>
          <a:xfrm>
            <a:off x="126609" y="110755"/>
            <a:ext cx="115355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#15)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query to list FirstName, LastName,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AccountID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TransactionDate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all transactions. Use INNER JOIN and LEFT JOIN as necessary to get all required details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A9E807B-4455-8C1C-5230-1E9A2D6D2663}"/>
              </a:ext>
            </a:extLst>
          </p:cNvPr>
          <p:cNvSpPr/>
          <p:nvPr/>
        </p:nvSpPr>
        <p:spPr>
          <a:xfrm>
            <a:off x="249977" y="947397"/>
            <a:ext cx="1318847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QUERY-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FB9481-4FDA-5FB8-2845-23846B622A10}"/>
              </a:ext>
            </a:extLst>
          </p:cNvPr>
          <p:cNvSpPr/>
          <p:nvPr/>
        </p:nvSpPr>
        <p:spPr>
          <a:xfrm>
            <a:off x="194483" y="2112932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OUTPUT-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9AB923E-1D77-05AD-4BD4-3C51F4538B45}"/>
              </a:ext>
            </a:extLst>
          </p:cNvPr>
          <p:cNvSpPr/>
          <p:nvPr/>
        </p:nvSpPr>
        <p:spPr>
          <a:xfrm>
            <a:off x="400925" y="4636393"/>
            <a:ext cx="1466558" cy="407963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7FBD25-2853-B227-1F1A-B5D1B1A9A028}"/>
              </a:ext>
            </a:extLst>
          </p:cNvPr>
          <p:cNvSpPr txBox="1"/>
          <p:nvPr/>
        </p:nvSpPr>
        <p:spPr>
          <a:xfrm>
            <a:off x="1867483" y="1004121"/>
            <a:ext cx="61053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c.FirstName,c.LastName,a.AccountsID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t.Transaction_Date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customer c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join accounts a   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c.CustomerID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a.cust_id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join Transactions t   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a.AccountsID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t.Acc_id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142F64-E1DD-5CA8-E203-5DF3438468D2}"/>
              </a:ext>
            </a:extLst>
          </p:cNvPr>
          <p:cNvSpPr txBox="1"/>
          <p:nvPr/>
        </p:nvSpPr>
        <p:spPr>
          <a:xfrm>
            <a:off x="2025747" y="4546465"/>
            <a:ext cx="9765328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query get accounts that belong to valid customers. Every row will have a customer’s first and last name with their account ID.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all accounts, even if they don’t have transactions. If an account has no transactions,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Transaction_Date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be NULL.</a:t>
            </a:r>
          </a:p>
          <a:p>
            <a:pPr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2CA154-1070-2160-FD06-8F40E8ED1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545" y="2329660"/>
            <a:ext cx="3185198" cy="223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90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13DC90-EE10-ACC1-75A4-A936EC461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"/>
          <a:stretch>
            <a:fillRect/>
          </a:stretch>
        </p:blipFill>
        <p:spPr>
          <a:xfrm>
            <a:off x="0" y="-530088"/>
            <a:ext cx="12192000" cy="75960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FCF3AB-0258-8A84-C4DA-D0EC08670BCF}"/>
              </a:ext>
            </a:extLst>
          </p:cNvPr>
          <p:cNvSpPr txBox="1"/>
          <p:nvPr/>
        </p:nvSpPr>
        <p:spPr>
          <a:xfrm>
            <a:off x="1636779" y="759563"/>
            <a:ext cx="913074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/>
              <a:t>                        </a:t>
            </a:r>
            <a:r>
              <a:rPr lang="en-US" sz="3200" b="1" dirty="0">
                <a:solidFill>
                  <a:schemeClr val="tx2"/>
                </a:solidFill>
                <a:highlight>
                  <a:srgbClr val="000000"/>
                </a:highlight>
              </a:rPr>
              <a:t>Summary of the Project</a:t>
            </a:r>
            <a:endParaRPr lang="en-US" sz="2800" b="1" dirty="0">
              <a:solidFill>
                <a:schemeClr val="tx2"/>
              </a:solidFill>
              <a:highlight>
                <a:srgbClr val="000000"/>
              </a:highlight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and analyzed an simple Banking Application using SQL.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core SQL concepts: SELECT, WHERE, LIKE, JOIN, GROUP BY, HAVING, and Subqueries.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Retrieved customers, accounts, transactions, loans, and branch details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how SQL helps in managing and improving Banking applications.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analysis shows that SQL is very powerful for managing Banking data and understanding customers performance.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helped me gain practical experience in data handling, optimization, and analysis, which are important for any real-life database system.</a:t>
            </a:r>
          </a:p>
        </p:txBody>
      </p:sp>
    </p:spTree>
    <p:extLst>
      <p:ext uri="{BB962C8B-B14F-4D97-AF65-F5344CB8AC3E}">
        <p14:creationId xmlns:p14="http://schemas.microsoft.com/office/powerpoint/2010/main" val="1727681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/>
        </p:nvSpPr>
        <p:spPr>
          <a:xfrm>
            <a:off x="305276" y="2203102"/>
            <a:ext cx="1102995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rbitron"/>
                <a:ea typeface="Orbitron"/>
                <a:cs typeface="Orbitron"/>
                <a:sym typeface="Orbitron"/>
              </a:rPr>
              <a:t>QUESTIONS?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581025" y="3584227"/>
            <a:ext cx="1102995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Thank you for reviewing the Online Quiz Management System.</a:t>
            </a:r>
            <a:endParaRPr kumimoji="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16" name="Google Shape;21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0125" y="4473773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5105400" y="4426148"/>
            <a:ext cx="2276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500" kern="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swarupilingayat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@gmail.com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5078</TotalTime>
  <Words>1481</Words>
  <Application>Microsoft Office PowerPoint</Application>
  <PresentationFormat>Widescreen</PresentationFormat>
  <Paragraphs>155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Arial Black</vt:lpstr>
      <vt:lpstr>Calibri</vt:lpstr>
      <vt:lpstr>Inter</vt:lpstr>
      <vt:lpstr>Orbitron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yamini rai</dc:creator>
  <cp:lastModifiedBy>Swarupi Lingayat</cp:lastModifiedBy>
  <cp:revision>78</cp:revision>
  <dcterms:created xsi:type="dcterms:W3CDTF">2025-11-29T06:59:22Z</dcterms:created>
  <dcterms:modified xsi:type="dcterms:W3CDTF">2026-04-21T16:50:41Z</dcterms:modified>
</cp:coreProperties>
</file>